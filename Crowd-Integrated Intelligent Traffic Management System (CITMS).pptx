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DE78-D8FF-9FCE-3489-0C4E62EBF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32534-FF41-BAB9-1F52-C6CE63341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63A47-E7AF-0D76-3384-26C99E52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7E363-D7B9-1BB9-0665-4C982863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B8744-B953-956F-49CE-1F479D91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5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7965-5945-279E-176E-6EAFA67BC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35308-06DC-94A3-B73F-FBAA51EAC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A3FF8-E498-58AC-9A46-F16667A0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F4A08-89CB-25AC-AD68-DA4B0368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1090-13A4-A7A4-9B8A-D03E7EFF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89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62F8-945A-80F8-BBC0-1931CF64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EBF24-BFFB-92F1-28C6-4481C832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9B257-BFE3-4ED5-26F5-9DADFEEC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35BD-4B37-EFB5-4C5B-90B38C02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CFE30-47DB-ED3F-B919-8812A86E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99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B118-EB3C-27E1-B141-B16E1891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011C0-DAAC-4F3E-C866-D41F6247F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E569C-1987-116A-2DF9-30BB1C3CD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2F82F-234C-FFDA-1BA0-3C063CF6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252EB-F750-52A4-9AAD-C75A6D9C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42A40-CD5A-E93B-FB06-DE25E5C3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66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7DDA-A572-7CF4-31C7-442641FD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5C198-2606-4497-25DF-541E99E35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BD540-4205-958F-AB5D-DDDB2418B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260F0-4494-C96E-6887-E6AFF096C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8E6C8-F657-060E-343F-51D6FC0C85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51EEEB-2E85-AF77-22CE-215EB61D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47238-2E31-9713-4997-7EADD07A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F24D3-11B2-7C52-EF48-CFE0A734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5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A861-4BA4-2317-297C-2011E53B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3EAAD-7FF2-5154-0D30-1E11C0E4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86AED-750B-AB89-B1D3-4F7B674F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F28D3-A2D7-9A07-7CC1-991B07EA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4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FAC07-76E5-E969-0FF6-40DBDE38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CC45B-F1A5-C532-E621-52E0FF84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20320-B015-F804-0937-5EED81FE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964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3F74-2714-48E4-7789-4B40F93A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6BE15-FD23-02F1-9AB0-7C87CCDB2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EB76C-B8F1-3133-87CB-8BB29C3C6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9E417-C538-5BAA-6092-ED3C148F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C23E6-4102-04AD-2998-58064F24F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A794A-2256-9ABC-3EB8-86295811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94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4390-4D10-A3A9-87EF-3F652CE06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4FFB0-9ACB-C48E-70CB-F7B00082A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4111E-DF4F-A607-2EC2-031722F01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1774F-118B-987C-2BE3-D72888FA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C21D-824D-39A9-3019-38EA9B0B8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04CB-B32F-DA99-BF27-282CD851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13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182F-002E-11D4-F409-9FF8C27F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A30A1-EC46-6998-9B10-5C4293F63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F766-651A-E49B-2769-EF57BCAE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C8D1-AA93-E16E-E430-27EA777D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8DFE8-BAB4-CA8F-17DD-85A7946A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42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6190FC-59BD-5BE5-B2D0-8CA3BE644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E295D-52E6-06A4-3BA8-FB0C6F77D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34BD2-5262-F087-0A2D-B5F789EC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71F1-DA47-6F4A-BC06-BB490E897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7133E-B9F2-CCCA-EF22-6502CE22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53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BBAA2-E547-8113-EBCA-EB89D3CAA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2E481-E3CB-27CB-32DF-C5CEF7B57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9003C-3414-9092-BABF-58EDC6D72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00B08-BFE5-49E8-B662-E2EA521AED28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CA78-68B8-E86B-93E8-156D37B03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631B-649B-BB42-4AC5-A2DB42FA7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34524-A159-4B8B-A0EC-366A2AF74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8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igma.com/proto/440OMCFLPOx4NU08z3O2s0/Untitled?node-id=0-1&amp;t=KWBO4JE2u1f2KYgx-1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2EF4-6967-FB7B-C927-BDD229160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656338"/>
          </a:xfrm>
        </p:spPr>
        <p:txBody>
          <a:bodyPr>
            <a:normAutofit/>
          </a:bodyPr>
          <a:lstStyle/>
          <a:p>
            <a:r>
              <a:rPr lang="en-US" sz="2800" b="1" dirty="0"/>
              <a:t>Crowd-Integrated Intelligent Traffic Management System (CITMS) 🚦</a:t>
            </a:r>
            <a:endParaRPr lang="en-IN" sz="28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9B51267-51EE-1A3A-A75B-A00606CC1A0B}"/>
              </a:ext>
            </a:extLst>
          </p:cNvPr>
          <p:cNvSpPr txBox="1">
            <a:spLocks/>
          </p:cNvSpPr>
          <p:nvPr/>
        </p:nvSpPr>
        <p:spPr>
          <a:xfrm>
            <a:off x="1524000" y="2934586"/>
            <a:ext cx="9144000" cy="9781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DC64C51-BCE1-D223-23A3-5C472216833F}"/>
              </a:ext>
            </a:extLst>
          </p:cNvPr>
          <p:cNvSpPr txBox="1">
            <a:spLocks/>
          </p:cNvSpPr>
          <p:nvPr/>
        </p:nvSpPr>
        <p:spPr>
          <a:xfrm>
            <a:off x="1077411" y="4890977"/>
            <a:ext cx="3239387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Shourya Vijayvargiya</a:t>
            </a:r>
          </a:p>
          <a:p>
            <a:r>
              <a:rPr lang="en-IN" dirty="0"/>
              <a:t>2427030727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9278592-5044-7AB3-9731-190CF352E5DE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Shishir Singh Chauhan</a:t>
            </a:r>
          </a:p>
          <a:p>
            <a:endParaRPr lang="en-IN" dirty="0"/>
          </a:p>
        </p:txBody>
      </p:sp>
      <p:pic>
        <p:nvPicPr>
          <p:cNvPr id="12" name="Picture 11" descr="A black and white text">
            <a:extLst>
              <a:ext uri="{FF2B5EF4-FFF2-40B4-BE49-F238E27FC236}">
                <a16:creationId xmlns:a16="http://schemas.microsoft.com/office/drawing/2014/main" id="{382271DF-8864-0D23-40DE-FCB1094E9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DF0341-4A89-3215-B940-2F94468BFD62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100438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651775D-141B-0A42-D767-9FB8AB0B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Outline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1929EB-F381-E3F7-879B-1A4ABFB1EF7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IN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48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83422-2253-851C-8735-8AC303FF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1BD0-A4C4-4B21-EF40-D60BCFE53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Urban traffic congestion and delayed response to on-road incidents are persistent challenges in modern cities.</a:t>
            </a:r>
          </a:p>
          <a:p>
            <a:r>
              <a:rPr lang="en-US" dirty="0"/>
              <a:t>Conventional traffic systems rely primarily on fixed sensors, cameras, and static signal timings, limiting their ability to adapt quickly to dynamic real-world events such as accidents, emergencies, and unexpected congestion.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proposed system introduces a </a:t>
            </a:r>
            <a:r>
              <a:rPr lang="en-US" b="1" dirty="0"/>
              <a:t>Crowd-Integrated Intelligent Traffic Management System (CITMS)</a:t>
            </a:r>
            <a:r>
              <a:rPr lang="en-US" dirty="0"/>
              <a:t> where road users act as real-time information sources.</a:t>
            </a:r>
          </a:p>
          <a:p>
            <a:r>
              <a:rPr lang="en-US" dirty="0"/>
              <a:t>Through a simple one-tap mobile interface, users can instantly report traffic conditions, enabling faster incident awareness and adaptive traffic control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062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A14B-54D6-6B03-BF5A-C3C7B717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9C37-1818-C08D-B6AF-1BFEEF4B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Recent research (2020–2025) emphasizes AI-based traffic prediction using deep learning and graph neural networks:</a:t>
            </a:r>
          </a:p>
          <a:p>
            <a:r>
              <a:rPr lang="en-IN" dirty="0"/>
              <a:t>• AGCRN — Adaptive Graph Learning</a:t>
            </a:r>
            <a:br>
              <a:rPr lang="en-IN" dirty="0"/>
            </a:br>
            <a:r>
              <a:rPr lang="en-IN" dirty="0"/>
              <a:t>• GMAN — Graph Multi-Attention Mechanisms</a:t>
            </a:r>
            <a:br>
              <a:rPr lang="en-IN" dirty="0"/>
            </a:br>
            <a:r>
              <a:rPr lang="en-IN" dirty="0"/>
              <a:t>• MTGNN — Multivariate Time-Series Forecasting</a:t>
            </a:r>
            <a:br>
              <a:rPr lang="en-IN" dirty="0"/>
            </a:br>
            <a:r>
              <a:rPr lang="en-IN" dirty="0"/>
              <a:t>• MD-GCN — Multi-Scale Temporal </a:t>
            </a:r>
            <a:r>
              <a:rPr lang="en-IN" dirty="0" err="1"/>
              <a:t>Modeling</a:t>
            </a:r>
            <a:endParaRPr lang="en-IN" dirty="0"/>
          </a:p>
          <a:p>
            <a:r>
              <a:rPr lang="en-IN" dirty="0"/>
              <a:t>These models improve traffic forecasting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125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C3A5-0D80-08B3-A3A4-0216B83F6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— Limitations of Existing Approaches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E9F9-362B-3C67-4864-4A273E7DA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strong prediction performance, existing systems exhibit key limitations:</a:t>
            </a:r>
          </a:p>
          <a:p>
            <a:r>
              <a:rPr lang="en-US" dirty="0"/>
              <a:t>❌ Heavy reliance on sensor-rich infrastructure</a:t>
            </a:r>
            <a:br>
              <a:rPr lang="en-US" dirty="0"/>
            </a:br>
            <a:r>
              <a:rPr lang="en-US" dirty="0"/>
              <a:t>❌ High deployment and maintenance cost</a:t>
            </a:r>
            <a:br>
              <a:rPr lang="en-US" dirty="0"/>
            </a:br>
            <a:r>
              <a:rPr lang="en-US" dirty="0"/>
              <a:t>❌ Limited awareness of sudden real-world incidents</a:t>
            </a:r>
            <a:br>
              <a:rPr lang="en-US" dirty="0"/>
            </a:br>
            <a:r>
              <a:rPr lang="en-US" dirty="0"/>
              <a:t>❌ Lack of human-assisted intelligence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45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0629-EF66-5FD4-50A6-720E8BCE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— Research Gap &amp; Motivation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F4F43-74D3-41A8-9DFB-FB9C291D0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Although recent AI-based traffic forecasting models achieve strong prediction accuracy, they primarily rely on sensor-generated datasets and focus mainly on congestion estimation rather than real-world incident awareness.</a:t>
            </a:r>
          </a:p>
          <a:p>
            <a:r>
              <a:rPr lang="en-US" dirty="0"/>
              <a:t>Most existing systems lack mechanisms to rapidly capture unexpected traffic disruptions such as accidents, signal failures, emergency vehicle movement, and temporary roadblocks.</a:t>
            </a:r>
          </a:p>
          <a:p>
            <a:r>
              <a:rPr lang="en-US" dirty="0"/>
              <a:t>Furthermore, limited incorporation of human-generated real-time inputs restricts the responsiveness of traditional intelligent traffic management frameworks.</a:t>
            </a:r>
          </a:p>
          <a:p>
            <a:r>
              <a:rPr lang="en-US" dirty="0"/>
              <a:t>This highlights the need for a crowd-assisted, incident-aware traffic control approach capable of improving adaptability and decision-making in dynamic urban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7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A3682-B11C-391F-4354-DB524A2F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DC358-5A24-1BFE-692E-9A271B2EB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Despite advancements in AI-based traffic prediction and sensor-driven traffic systems, conventional traffic management frameworks struggle to rapidly detect and respond to unexpected real-world incidents.</a:t>
            </a:r>
          </a:p>
          <a:p>
            <a:r>
              <a:rPr lang="en-US" dirty="0"/>
              <a:t>Most systems depend heavily on fixed infrastructure such as cameras and sensors, which may introduce delays, increase deployment costs, and limit adaptability in dynamic urban environments.</a:t>
            </a:r>
          </a:p>
          <a:p>
            <a:r>
              <a:rPr lang="en-US" dirty="0"/>
              <a:t>There is a need for a more responsive and cost-effective mechanism that can enhance situational awareness and enable faster traffic control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42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36B6-57AD-A72B-4984-8C40209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8713A-75E8-EBDB-8284-9D857DF96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primary objectives of the proposed system are:</a:t>
            </a:r>
          </a:p>
          <a:p>
            <a:pPr marL="0" indent="0">
              <a:buNone/>
            </a:pPr>
            <a:r>
              <a:rPr lang="en-US" dirty="0"/>
              <a:t>• To design a crowd-integrated traffic reporting mechanism enabling real-time human input</a:t>
            </a:r>
            <a:br>
              <a:rPr lang="en-US" dirty="0"/>
            </a:br>
            <a:r>
              <a:rPr lang="en-US" dirty="0"/>
              <a:t>• To improve traffic signal responsiveness using adaptive decision logic</a:t>
            </a:r>
            <a:br>
              <a:rPr lang="en-US" dirty="0"/>
            </a:br>
            <a:r>
              <a:rPr lang="en-US" dirty="0"/>
              <a:t>• To enhance emergency vehicle prioritization and incident handling</a:t>
            </a:r>
            <a:br>
              <a:rPr lang="en-US" dirty="0"/>
            </a:br>
            <a:r>
              <a:rPr lang="en-US" dirty="0"/>
              <a:t>• To reduce congestion impact through dynamic control strategies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22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B625-E748-E06B-A090-CF08794D6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Methodology (System Concept)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A317-5CAC-2058-2325-C5C47D36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Crowd-Integrated Intelligent Traffic Management System (CITMS) introduces a hybrid traffic control framework where road users act as distributed real-time information sources.</a:t>
            </a:r>
          </a:p>
          <a:p>
            <a:r>
              <a:rPr lang="en-US" dirty="0"/>
              <a:t>Instead of relying solely on automated sensing infrastructure, the system incorporates human-generated reports collected through a simple one-tap mobile interface.</a:t>
            </a:r>
          </a:p>
          <a:p>
            <a:r>
              <a:rPr lang="en-US" dirty="0"/>
              <a:t>This approach allows the traffic management system to capture dynamic traffic disruptions directly from on-ground participants.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7660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9C24-A68F-748B-23A3-9A20E966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Methodology (Event-Aware Reporting)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D198-B946-E8CA-E5C9-31B924ADD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enables event-specific reporting of traffic conditions, including:</a:t>
            </a:r>
          </a:p>
          <a:p>
            <a:r>
              <a:rPr lang="en-US" dirty="0"/>
              <a:t>🚧 Road Accident</a:t>
            </a:r>
            <a:br>
              <a:rPr lang="en-US" dirty="0"/>
            </a:br>
            <a:r>
              <a:rPr lang="en-US" dirty="0"/>
              <a:t>🚦 Broken Signal</a:t>
            </a:r>
            <a:br>
              <a:rPr lang="en-US" dirty="0"/>
            </a:br>
            <a:r>
              <a:rPr lang="en-US" dirty="0"/>
              <a:t>🚑 Emergency Vehicle</a:t>
            </a:r>
            <a:br>
              <a:rPr lang="en-US" dirty="0"/>
            </a:br>
            <a:r>
              <a:rPr lang="en-US" dirty="0"/>
              <a:t>🛑 Heavy Traffic Jam</a:t>
            </a:r>
            <a:br>
              <a:rPr lang="en-US" dirty="0"/>
            </a:br>
            <a:r>
              <a:rPr lang="en-US" dirty="0"/>
              <a:t>🚫 Road Blocked</a:t>
            </a:r>
          </a:p>
          <a:p>
            <a:r>
              <a:rPr lang="en-US" dirty="0"/>
              <a:t>Unlike density-only approaches, this mechanism allows the system to understand the nature of traffic disruptions, enabling more targeted and context-aware control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618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83C2-CA47-3C72-519B-2DD2ED68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Methodology (Decision Engine Logic)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B37D2-8969-9BE5-0A47-14BBBD413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Validated crowd reports update key traffic state variables:</a:t>
            </a:r>
          </a:p>
          <a:p>
            <a:r>
              <a:rPr lang="en-US" dirty="0"/>
              <a:t>• Traffic Density</a:t>
            </a:r>
            <a:br>
              <a:rPr lang="en-US" dirty="0"/>
            </a:br>
            <a:r>
              <a:rPr lang="en-US" dirty="0"/>
              <a:t>• Queue Length</a:t>
            </a:r>
            <a:br>
              <a:rPr lang="en-US" dirty="0"/>
            </a:br>
            <a:r>
              <a:rPr lang="en-US" dirty="0"/>
              <a:t>• Incident Risk</a:t>
            </a:r>
            <a:br>
              <a:rPr lang="en-US" dirty="0"/>
            </a:br>
            <a:r>
              <a:rPr lang="en-US" dirty="0"/>
              <a:t>• Environmental Factors</a:t>
            </a:r>
          </a:p>
          <a:p>
            <a:r>
              <a:rPr lang="en-US" dirty="0"/>
              <a:t>A rule-based and AI-inspired decision engine evaluates the traffic state and selects adaptive signal control actions to improve flow efficiency and safety.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65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059F-6A48-F932-5BE9-A9AE9AB0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Methodology (Simulation &amp; Validation)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65813-9CBE-F6C4-F9D2-A2F9E7611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demonstrate feasibility of the control mechanism, the backend decision engine is modeled through a modular simulation implemented in </a:t>
            </a:r>
            <a:r>
              <a:rPr lang="en-US" b="1" dirty="0"/>
              <a:t>C programming</a:t>
            </a:r>
            <a:r>
              <a:rPr lang="en-US" dirty="0"/>
              <a:t>.</a:t>
            </a:r>
          </a:p>
          <a:p>
            <a:r>
              <a:rPr lang="en-US" dirty="0"/>
              <a:t>The simulation captures:</a:t>
            </a:r>
          </a:p>
          <a:p>
            <a:r>
              <a:rPr lang="en-US" dirty="0"/>
              <a:t>✔ Traffic State Representation</a:t>
            </a:r>
            <a:br>
              <a:rPr lang="en-US" dirty="0"/>
            </a:br>
            <a:r>
              <a:rPr lang="en-US" dirty="0"/>
              <a:t>✔ Agent-Based Action Selection</a:t>
            </a:r>
            <a:br>
              <a:rPr lang="en-US" dirty="0"/>
            </a:br>
            <a:r>
              <a:rPr lang="en-US" dirty="0"/>
              <a:t>✔ Reward-Based Evaluation</a:t>
            </a:r>
            <a:br>
              <a:rPr lang="en-US" dirty="0"/>
            </a:br>
            <a:r>
              <a:rPr lang="en-US" dirty="0"/>
              <a:t>✔ Adaptive </a:t>
            </a:r>
            <a:r>
              <a:rPr lang="en-US" dirty="0" err="1"/>
              <a:t>Behaviour</a:t>
            </a:r>
            <a:r>
              <a:rPr lang="en-US" dirty="0"/>
              <a:t> Modeling</a:t>
            </a:r>
          </a:p>
          <a:p>
            <a:r>
              <a:rPr lang="en-US" dirty="0"/>
              <a:t>This validates the conceptual traffic control logic without requiring physical deployment.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91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7442-2426-2240-BCA7-CE853F2A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04130-34C0-77D1-7C08-6EBD121EA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Simulation-based evaluation indicates:</a:t>
            </a:r>
          </a:p>
          <a:p>
            <a:pPr marL="0" indent="0">
              <a:buNone/>
            </a:pPr>
            <a:r>
              <a:rPr lang="en-US" dirty="0"/>
              <a:t>• Stable adaptive </a:t>
            </a:r>
            <a:r>
              <a:rPr lang="en-US" dirty="0" err="1"/>
              <a:t>behaviour</a:t>
            </a:r>
            <a:r>
              <a:rPr lang="en-US" dirty="0"/>
              <a:t> across dynamic traffic scenarios</a:t>
            </a:r>
            <a:br>
              <a:rPr lang="en-US" dirty="0"/>
            </a:br>
            <a:r>
              <a:rPr lang="en-US" dirty="0"/>
              <a:t>• Decision logic responds to congestion and incident variations</a:t>
            </a:r>
            <a:br>
              <a:rPr lang="en-US" dirty="0"/>
            </a:br>
            <a:r>
              <a:rPr lang="en-US" dirty="0"/>
              <a:t>• Reward function penalizes inefficient and unsafe states</a:t>
            </a:r>
            <a:br>
              <a:rPr lang="en-US" dirty="0"/>
            </a:br>
            <a:r>
              <a:rPr lang="en-US" dirty="0"/>
              <a:t>• Feasibility of crowd-influenced traffic control mechanisms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57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31CE-9109-192D-0F74-00E4A1AA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Outcome / Academic Progress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476FB-C4A5-41AD-4B51-E10E3033C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Current Semester Achievements:</a:t>
            </a:r>
            <a:endParaRPr lang="en-IN" dirty="0"/>
          </a:p>
          <a:p>
            <a:r>
              <a:rPr lang="en-IN" dirty="0"/>
              <a:t>✔ System framework &amp; architecture defined</a:t>
            </a:r>
            <a:br>
              <a:rPr lang="en-IN" dirty="0"/>
            </a:br>
            <a:r>
              <a:rPr lang="en-IN" dirty="0"/>
              <a:t>✔ Crowd-integration model designed</a:t>
            </a:r>
            <a:br>
              <a:rPr lang="en-IN" dirty="0"/>
            </a:br>
            <a:r>
              <a:rPr lang="en-IN" dirty="0"/>
              <a:t>✔ Backend decision logic simulated in C</a:t>
            </a:r>
            <a:br>
              <a:rPr lang="en-IN" dirty="0"/>
            </a:br>
            <a:r>
              <a:rPr lang="en-IN" dirty="0"/>
              <a:t>✔ One-tap mobile interface prototype designed in Figma</a:t>
            </a:r>
          </a:p>
          <a:p>
            <a:r>
              <a:rPr lang="en-US" b="1" dirty="0"/>
              <a:t>Research Paper:</a:t>
            </a:r>
            <a:r>
              <a:rPr lang="en-US" dirty="0"/>
              <a:t> Planned / Draft Stage</a:t>
            </a:r>
            <a:br>
              <a:rPr lang="en-US" dirty="0"/>
            </a:br>
            <a:r>
              <a:rPr lang="en-US" b="1" dirty="0"/>
              <a:t>Patent Feasibility:</a:t>
            </a:r>
            <a:r>
              <a:rPr lang="en-US" dirty="0"/>
              <a:t> Under Conceptual Review</a:t>
            </a:r>
            <a:br>
              <a:rPr lang="en-US" dirty="0"/>
            </a:br>
            <a:r>
              <a:rPr lang="en-US" b="1" dirty="0"/>
              <a:t>Deployment Level:</a:t>
            </a:r>
            <a:r>
              <a:rPr lang="en-US" dirty="0"/>
              <a:t> Simulation / Prototype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94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1D04-D48E-A890-FA47-BEACCCAE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Prototype Demonstration (Figma)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FA8367-4A61-C7E2-8B8E-DD596BFA8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310" y="1690688"/>
            <a:ext cx="2637334" cy="3884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48768A-15A9-FFD4-15BD-B568B1FC1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786" y="1690688"/>
            <a:ext cx="2709066" cy="3884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8E39B1-6ABB-AE29-2154-7EC2D8A1F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994" y="1690688"/>
            <a:ext cx="2709067" cy="3884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EF30E8-CF3F-3059-63F9-4CBCEED4B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376" y="1690688"/>
            <a:ext cx="2709068" cy="38842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F07906-5DE9-4770-ED10-604CE784B4F7}"/>
              </a:ext>
            </a:extLst>
          </p:cNvPr>
          <p:cNvSpPr txBox="1"/>
          <p:nvPr/>
        </p:nvSpPr>
        <p:spPr>
          <a:xfrm>
            <a:off x="356310" y="5928852"/>
            <a:ext cx="11639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View Interactive Prototype: </a:t>
            </a:r>
            <a:r>
              <a:rPr lang="en-IN" u="sng" dirty="0">
                <a:hlinkClick r:id="rId6"/>
              </a:rPr>
              <a:t>https://www.figma.com/proto/440OMCFLPOx4NU08z3O2s0/Untitled?node-id=0-1&amp;t=KWBO4JE2u1f2KYgx-1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72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1405-B526-2926-B6E9-4577EDE7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EB605-E6FE-4F43-B1D2-ED014D5F4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AGCRN — </a:t>
            </a:r>
            <a:r>
              <a:rPr lang="en-IN" dirty="0" err="1"/>
              <a:t>NeurIPS</a:t>
            </a:r>
            <a:r>
              <a:rPr lang="en-IN" dirty="0"/>
              <a:t> 2020</a:t>
            </a:r>
            <a:br>
              <a:rPr lang="en-IN" dirty="0"/>
            </a:br>
            <a:r>
              <a:rPr lang="en-IN" dirty="0"/>
              <a:t>GMAN — AAAI 2020</a:t>
            </a:r>
            <a:br>
              <a:rPr lang="en-IN" dirty="0"/>
            </a:br>
            <a:r>
              <a:rPr lang="en-IN" dirty="0"/>
              <a:t>MTGNN — KDD 2020</a:t>
            </a:r>
            <a:br>
              <a:rPr lang="en-IN" dirty="0"/>
            </a:br>
            <a:r>
              <a:rPr lang="en-IN" dirty="0"/>
              <a:t>MD-GCN — Recent Traffic Forecasting Research</a:t>
            </a:r>
          </a:p>
          <a:p>
            <a:r>
              <a:rPr lang="en-IN" dirty="0"/>
              <a:t>Recent AI-based Traffic Management Literature (2020–2025)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580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65FBC-3576-1256-FE38-97522FFA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70436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2675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Crowd-Integrated Intelligent Traffic Management System (CITMS)</Template>
  <TotalTime>0</TotalTime>
  <Words>893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Crowd-Integrated Intelligent Traffic Management System (CITMS) 🚦</vt:lpstr>
      <vt:lpstr>Outline</vt:lpstr>
      <vt:lpstr>Introduction</vt:lpstr>
      <vt:lpstr>Literature Review</vt:lpstr>
      <vt:lpstr>Literature Review — Limitations of Existing Approaches</vt:lpstr>
      <vt:lpstr>Literature Review — Research Gap &amp; Motivation</vt:lpstr>
      <vt:lpstr>Problem Statement</vt:lpstr>
      <vt:lpstr>Objectives</vt:lpstr>
      <vt:lpstr>Proposed Methodology (System Concept)</vt:lpstr>
      <vt:lpstr>Proposed Methodology (Event-Aware Reporting)</vt:lpstr>
      <vt:lpstr>Proposed Methodology (Decision Engine Logic)</vt:lpstr>
      <vt:lpstr>Proposed Methodology (Simulation &amp; Validation)</vt:lpstr>
      <vt:lpstr>Results</vt:lpstr>
      <vt:lpstr>Outcome / Academic Progress </vt:lpstr>
      <vt:lpstr>Prototype Demonstration (Figma)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Shourya Vijayvargiya</dc:creator>
  <cp:lastModifiedBy>Shourya Vijayvargiya</cp:lastModifiedBy>
  <cp:revision>1</cp:revision>
  <dcterms:created xsi:type="dcterms:W3CDTF">2026-02-15T09:55:37Z</dcterms:created>
  <dcterms:modified xsi:type="dcterms:W3CDTF">2026-02-15T10:23:01Z</dcterms:modified>
</cp:coreProperties>
</file>